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26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Saludo: «Hola a todos, somos el Equipo 3 y hoy les hablaremos sobre MongoDB y cómo abordar casos donde la información no encaja de forma natural en una tabla relacional tradicional.»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Nuestra presentación está dividida en seis partes clave con una duración total de 15 minutos: desde la problemática del modelado en SQL hasta una demostración técnica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Imaginen un sistema gubernamental de trámites: licencias de funcionamiento, constancias de no adeudo, etc. Cada trámite tiene campos totalmente diferentes. En una base relacional tendríamos que hacer un ALTER TABLE por cada trámite nuevo o llenar la tabla de columnas NULL, y consultar un solo trámite implicaría varios JOIN. La regla: el documento debería seguir al dato, no al revés.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 es una base NoSQL donde cada registro es un documento BSON, representación binaria de JSON. En lugar de tablas guardamos documentos en colecciones. El servidor es el proceso mongod; nos conectamos con Mongoose o PyMongo desde la API, o con la consola mongosh. MongoDB no viene a matar a MySQL, sino a resolver lo que no encaja en filas.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flujo: seleccionar base y colección, armar el documento JSON con los campos específicos, insertarlo con insertOne y consultar con find. Sin índice sobre campos anidados MongoDB hace un escaneo completo; con createIndex la consulta a campos internos es inmediata. En el proyecto de la demo, index.js define índices en datos.rfc y datos.giro.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documentos en la misma colección tramites: una licencia (giro y m²) y una constancia (RFC y adeudos). Conviven sin ALTER TABLE. En MySQL habrían sido dos tablas o decenas de campos vacíos. Los mismos documentos se insertan en la demo (demo_script.sh).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Conectemos con la materia: en lugar del esquema fijo de MySQL usamos documentos variables; en Docker levantamos un contenedor con mongo:7; la capa GraphQL o REST se mantiene intacta; la autenticación por tokens sigue en la API, MongoDB no reemplaza la seguridad del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Ganamos velocidad de lectura porque leemos todo el trámite de un solo golpe, y escalabilidad horizontal con réplicas. El costo: al no haber JOIN nativos eficientes, si duplicamos información debemos mantener la consistencia desde el código, y las transacciones complejas entre varias colecciones son más limitadas.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Debemos saber cuándo NO usar MongoDB: nómina, contabilidad o transacciones financieras interconectadas donde el JOIN es esencial; tampoco para reportes masivos que cruzan todo el sistema. Pregunta guía: ¿este dato se lee completo y cambia por bloques?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 no elimina la necesidad de estructurar datos; traslada la responsabilidad del esquema del motor a la aplicación. El esquema se diseña, no se deja al azar. ¡Gracias! ¿Tienen alguna pregunta?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64"/>
                </a:solidFill>
              </a:rPr>
              <a:t>Equipo 3  ·  MongoDB  ·  Unidad 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D8C8"/>
                </a:solidFill>
              </a:rPr>
              <a:t>FUNDAMENTOS DE ARQUITECTURA DE SOFTWARE Y DESARROLLO 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85139" y="3063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E8F1EC"/>
                </a:solidFill>
              </a:rPr>
              <a:t>Documentos cuando la fila no es la forma natural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081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Equipo 3  · 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Heidi Esther Peña Betanzos  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Scarlet Angelina Ruelas </a:t>
            </a:r>
            <a:r>
              <a:rPr lang="en-US" sz="1800" b="1" dirty="0" err="1">
                <a:solidFill>
                  <a:srgbClr val="FFFFFF"/>
                </a:solidFill>
              </a:rPr>
              <a:t>Cardeña</a:t>
            </a:r>
            <a:r>
              <a:rPr lang="en-US" sz="1800" b="1" dirty="0">
                <a:solidFill>
                  <a:srgbClr val="FFFFFF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Marco Damian Coba Gongora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139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8C8"/>
                </a:solidFill>
              </a:rPr>
              <a:t>Unidad II · Exposición  ·  26 de octubre de 2026</a:t>
            </a:r>
            <a:endParaRPr lang="en-US" sz="1400" dirty="0"/>
          </a:p>
        </p:txBody>
      </p:sp>
      <p:sp>
        <p:nvSpPr>
          <p:cNvPr id="7" name="Motivo círculo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rgbClr val="0B3D2E"/>
          </a:solidFill>
          <a:ln w="3175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Motivo círculo interno"/>
          <p:cNvSpPr/>
          <p:nvPr/>
        </p:nvSpPr>
        <p:spPr>
          <a:xfrm>
            <a:off x="9235440" y="2011680"/>
            <a:ext cx="1828800" cy="1828800"/>
          </a:xfrm>
          <a:prstGeom prst="ellipse">
            <a:avLst/>
          </a:prstGeom>
          <a:solidFill>
            <a:srgbClr val="0B3D2E"/>
          </a:solidFill>
          <a:ln w="1905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n 8" descr="Monitoreo y gestión del desempeño de MongoDB | IBM">
            <a:extLst>
              <a:ext uri="{FF2B5EF4-FFF2-40B4-BE49-F238E27FC236}">
                <a16:creationId xmlns:a16="http://schemas.microsoft.com/office/drawing/2014/main" id="{C7D9B4EB-15D8-FEAC-3A33-CEC02AB36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037" y="1767554"/>
            <a:ext cx="3111606" cy="2347246"/>
          </a:xfrm>
          <a:prstGeom prst="rect">
            <a:avLst/>
          </a:prstGeom>
        </p:spPr>
      </p:pic>
      <p:pic>
        <p:nvPicPr>
          <p:cNvPr id="10" name="Gráfico 9" descr="MongoDB - DAVINCI TI">
            <a:extLst>
              <a:ext uri="{FF2B5EF4-FFF2-40B4-BE49-F238E27FC236}">
                <a16:creationId xmlns:a16="http://schemas.microsoft.com/office/drawing/2014/main" id="{7675DECC-350E-5F46-CBA5-580A3B437A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179" y="4160520"/>
            <a:ext cx="4261076" cy="2725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ORDEN DE LA EXPOSICIÓN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partes, quince minutos</a:t>
            </a:r>
            <a:endParaRPr lang="en-US" sz="3600" dirty="0"/>
          </a:p>
        </p:txBody>
      </p:sp>
      <p:sp>
        <p:nvSpPr>
          <p:cNvPr id="4" name="Tarjeta 01"/>
          <p:cNvSpPr/>
          <p:nvPr/>
        </p:nvSpPr>
        <p:spPr>
          <a:xfrm>
            <a:off x="548640" y="1828800"/>
            <a:ext cx="54406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Círculo 01"/>
          <p:cNvSpPr/>
          <p:nvPr/>
        </p:nvSpPr>
        <p:spPr>
          <a:xfrm>
            <a:off x="822960" y="21214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 problema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 trámite no cabe en una tabla</a:t>
            </a:r>
            <a:endParaRPr lang="en-US" sz="1400" dirty="0"/>
          </a:p>
        </p:txBody>
      </p:sp>
      <p:sp>
        <p:nvSpPr>
          <p:cNvPr id="9" name="Tarjeta 02"/>
          <p:cNvSpPr/>
          <p:nvPr/>
        </p:nvSpPr>
        <p:spPr>
          <a:xfrm>
            <a:off x="6172200" y="1828800"/>
            <a:ext cx="54406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Círculo 02"/>
          <p:cNvSpPr/>
          <p:nvPr/>
        </p:nvSpPr>
        <p:spPr>
          <a:xfrm>
            <a:off x="6446520" y="21214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446520" y="2121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¿Qué es MongoDB?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Documentos JSON/BSON vs. filas SQL</a:t>
            </a:r>
            <a:endParaRPr lang="en-US" sz="1400" dirty="0"/>
          </a:p>
        </p:txBody>
      </p:sp>
      <p:sp>
        <p:nvSpPr>
          <p:cNvPr id="14" name="Tarjeta 03"/>
          <p:cNvSpPr/>
          <p:nvPr/>
        </p:nvSpPr>
        <p:spPr>
          <a:xfrm>
            <a:off x="548640" y="3291840"/>
            <a:ext cx="54406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Círculo 03"/>
          <p:cNvSpPr/>
          <p:nvPr/>
        </p:nvSpPr>
        <p:spPr>
          <a:xfrm>
            <a:off x="822960" y="358444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822960" y="3584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¿Cómo se usa?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Base, colección, documentos e índices</a:t>
            </a:r>
            <a:endParaRPr lang="en-US" sz="1400" dirty="0"/>
          </a:p>
        </p:txBody>
      </p:sp>
      <p:sp>
        <p:nvSpPr>
          <p:cNvPr id="19" name="Tarjeta 04"/>
          <p:cNvSpPr/>
          <p:nvPr/>
        </p:nvSpPr>
        <p:spPr>
          <a:xfrm>
            <a:off x="6172200" y="3291840"/>
            <a:ext cx="54406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Círculo 04"/>
          <p:cNvSpPr/>
          <p:nvPr/>
        </p:nvSpPr>
        <p:spPr>
          <a:xfrm>
            <a:off x="6446520" y="358444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446520" y="3584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Ejemplo concreto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Dos trámites en una sola colección</a:t>
            </a:r>
            <a:endParaRPr lang="en-US" sz="1400" dirty="0"/>
          </a:p>
        </p:txBody>
      </p:sp>
      <p:sp>
        <p:nvSpPr>
          <p:cNvPr id="24" name="Tarjeta 05"/>
          <p:cNvSpPr/>
          <p:nvPr/>
        </p:nvSpPr>
        <p:spPr>
          <a:xfrm>
            <a:off x="548640" y="4754880"/>
            <a:ext cx="54406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Círculo 05"/>
          <p:cNvSpPr/>
          <p:nvPr/>
        </p:nvSpPr>
        <p:spPr>
          <a:xfrm>
            <a:off x="822960" y="50474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822960" y="5047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4983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Costos y límites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Relación con el curso: ¿cuándo sí y cuándo no?</a:t>
            </a:r>
            <a:endParaRPr lang="en-US" sz="1400" dirty="0"/>
          </a:p>
        </p:txBody>
      </p:sp>
      <p:sp>
        <p:nvSpPr>
          <p:cNvPr id="29" name="Tarjeta 06"/>
          <p:cNvSpPr/>
          <p:nvPr/>
        </p:nvSpPr>
        <p:spPr>
          <a:xfrm>
            <a:off x="6172200" y="4754880"/>
            <a:ext cx="54406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Círculo 06"/>
          <p:cNvSpPr/>
          <p:nvPr/>
        </p:nvSpPr>
        <p:spPr>
          <a:xfrm>
            <a:off x="6446520" y="50474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6446520" y="5047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4983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C</a:t>
            </a:r>
            <a:r>
              <a:rPr lang="en-US" sz="2000" b="1" dirty="0">
                <a:solidFill>
                  <a:schemeClr val="tx1"/>
                </a:solidFill>
              </a:rPr>
              <a:t>ierre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5440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accent5"/>
                </a:solidFill>
              </a:rPr>
              <a:t>Conclusiones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01 · 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trámite no cabe en una tabla</a:t>
            </a:r>
            <a:endParaRPr lang="en-US" sz="3600" dirty="0"/>
          </a:p>
        </p:txBody>
      </p:sp>
      <p:sp>
        <p:nvSpPr>
          <p:cNvPr id="4" name="Problema 1"/>
          <p:cNvSpPr/>
          <p:nvPr/>
        </p:nvSpPr>
        <p:spPr>
          <a:xfrm>
            <a:off x="548640" y="1828800"/>
            <a:ext cx="69494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Marca 1"/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ALTER TABLE continuo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591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nuevo trámite exige alterar la base de datos.</a:t>
            </a:r>
            <a:endParaRPr lang="en-US" sz="1400" dirty="0"/>
          </a:p>
        </p:txBody>
      </p:sp>
      <p:sp>
        <p:nvSpPr>
          <p:cNvPr id="9" name="Problema 2"/>
          <p:cNvSpPr/>
          <p:nvPr/>
        </p:nvSpPr>
        <p:spPr>
          <a:xfrm>
            <a:off x="548640" y="3017520"/>
            <a:ext cx="69494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Marca 2"/>
          <p:cNvSpPr/>
          <p:nvPr/>
        </p:nvSpPr>
        <p:spPr>
          <a:xfrm>
            <a:off x="777240" y="326440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77724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54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Columnas desaprovechadas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5478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Muchas columnas terminan en NULL.</a:t>
            </a:r>
            <a:endParaRPr lang="en-US" sz="1400" dirty="0"/>
          </a:p>
        </p:txBody>
      </p:sp>
      <p:sp>
        <p:nvSpPr>
          <p:cNvPr id="14" name="Problema 3"/>
          <p:cNvSpPr/>
          <p:nvPr/>
        </p:nvSpPr>
        <p:spPr>
          <a:xfrm>
            <a:off x="548640" y="4206240"/>
            <a:ext cx="69494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Marca 3"/>
          <p:cNvSpPr/>
          <p:nvPr/>
        </p:nvSpPr>
        <p:spPr>
          <a:xfrm>
            <a:off x="777240" y="445312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77724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43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Datos fragmentados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365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Varios JOIN para leer un solo trámite completo.</a:t>
            </a:r>
            <a:endParaRPr lang="en-US" sz="1400" dirty="0"/>
          </a:p>
        </p:txBody>
      </p:sp>
      <p:sp>
        <p:nvSpPr>
          <p:cNvPr id="19" name="Cita problema"/>
          <p:cNvSpPr/>
          <p:nvPr/>
        </p:nvSpPr>
        <p:spPr>
          <a:xfrm>
            <a:off x="7863840" y="1828800"/>
            <a:ext cx="3749040" cy="3383280"/>
          </a:xfrm>
          <a:prstGeom prst="roundRect">
            <a:avLst>
              <a:gd name="adj" fmla="val 27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8183880" y="210312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formato de la base debe adaptarse al dato, no el dato a la tabla.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Ejemplo: licencia de funcionamiento, constancia de no adeudo… cada trámite trae campos distintos.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02 · ¿QUÉ ES MONGODB?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Documentos, no filas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Motor NoSQL orientado a documentos en formato BSON (JSON binario). Los documentos viven en colecciones.</a:t>
            </a:r>
            <a:endParaRPr lang="en-US" sz="1600" dirty="0"/>
          </a:p>
        </p:txBody>
      </p:sp>
      <p:sp>
        <p:nvSpPr>
          <p:cNvPr id="5" name="Tarjeta mongod"/>
          <p:cNvSpPr/>
          <p:nvPr/>
        </p:nvSpPr>
        <p:spPr>
          <a:xfrm>
            <a:off x="548640" y="2286000"/>
            <a:ext cx="2633472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SERVIDOR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Escucha en el puerto 27017.</a:t>
            </a:r>
            <a:endParaRPr lang="en-US" sz="1400" dirty="0"/>
          </a:p>
        </p:txBody>
      </p:sp>
      <p:sp>
        <p:nvSpPr>
          <p:cNvPr id="9" name="Tarjeta pymongo / mongoose"/>
          <p:cNvSpPr/>
          <p:nvPr/>
        </p:nvSpPr>
        <p:spPr>
          <a:xfrm>
            <a:off x="3364992" y="2286000"/>
            <a:ext cx="2633472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3593592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LIBRERÍA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pymongo / mongoose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Se usa dentro de la API (Python o Node.js).</a:t>
            </a:r>
            <a:endParaRPr lang="en-US" sz="1400" dirty="0"/>
          </a:p>
        </p:txBody>
      </p:sp>
      <p:sp>
        <p:nvSpPr>
          <p:cNvPr id="13" name="Tarjeta mongosh"/>
          <p:cNvSpPr/>
          <p:nvPr/>
        </p:nvSpPr>
        <p:spPr>
          <a:xfrm>
            <a:off x="6181344" y="2286000"/>
            <a:ext cx="2633472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409944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CONSOLA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mongosh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Pruebas directas: insertOne, find…</a:t>
            </a:r>
            <a:endParaRPr lang="en-US" sz="1400" dirty="0"/>
          </a:p>
        </p:txBody>
      </p:sp>
      <p:sp>
        <p:nvSpPr>
          <p:cNvPr id="17" name="Tarjeta MongoDB Atlas"/>
          <p:cNvSpPr/>
          <p:nvPr/>
        </p:nvSpPr>
        <p:spPr>
          <a:xfrm>
            <a:off x="8997696" y="2286000"/>
            <a:ext cx="2633472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9226296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NUBE (OPCIONAL)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El mismo motor, sin servidor local.</a:t>
            </a:r>
            <a:endParaRPr lang="en-US" sz="1400" dirty="0"/>
          </a:p>
        </p:txBody>
      </p:sp>
      <p:sp>
        <p:nvSpPr>
          <p:cNvPr id="21" name="Aclaración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reemplaza a SQL: guarda información con estructura muy variable.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03 · ¿CÓMO SE USA?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base de datos a documento</a:t>
            </a:r>
            <a:endParaRPr lang="en-US" sz="3600" dirty="0"/>
          </a:p>
        </p:txBody>
      </p:sp>
      <p:sp>
        <p:nvSpPr>
          <p:cNvPr id="4" name="Paso 1"/>
          <p:cNvSpPr/>
          <p:nvPr/>
        </p:nvSpPr>
        <p:spPr>
          <a:xfrm>
            <a:off x="548640" y="1737360"/>
            <a:ext cx="263347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Número 1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Elige base y colección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ingresos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db.tramites</a:t>
            </a:r>
            <a:endParaRPr lang="en-US" sz="1200" dirty="0"/>
          </a:p>
        </p:txBody>
      </p:sp>
      <p:sp>
        <p:nvSpPr>
          <p:cNvPr id="9" name="Paso 2"/>
          <p:cNvSpPr/>
          <p:nvPr/>
        </p:nvSpPr>
        <p:spPr>
          <a:xfrm>
            <a:off x="3364992" y="1737360"/>
            <a:ext cx="263347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Número 2"/>
          <p:cNvSpPr/>
          <p:nvPr/>
        </p:nvSpPr>
        <p:spPr>
          <a:xfrm>
            <a:off x="3593592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359359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Arma el documento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con los campos que ese trámite necesita</a:t>
            </a:r>
            <a:endParaRPr lang="en-US" sz="1200" dirty="0"/>
          </a:p>
        </p:txBody>
      </p:sp>
      <p:sp>
        <p:nvSpPr>
          <p:cNvPr id="14" name="Paso 3"/>
          <p:cNvSpPr/>
          <p:nvPr/>
        </p:nvSpPr>
        <p:spPr>
          <a:xfrm>
            <a:off x="6181344" y="1737360"/>
            <a:ext cx="263347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Número 3"/>
          <p:cNvSpPr/>
          <p:nvPr/>
        </p:nvSpPr>
        <p:spPr>
          <a:xfrm>
            <a:off x="6409944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640994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Inserta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db.tramites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.insertOne(doc)</a:t>
            </a:r>
            <a:endParaRPr lang="en-US" sz="1200" dirty="0"/>
          </a:p>
        </p:txBody>
      </p:sp>
      <p:sp>
        <p:nvSpPr>
          <p:cNvPr id="19" name="Paso 4"/>
          <p:cNvSpPr/>
          <p:nvPr/>
        </p:nvSpPr>
        <p:spPr>
          <a:xfrm>
            <a:off x="8997696" y="1737360"/>
            <a:ext cx="263347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Número 4"/>
          <p:cNvSpPr/>
          <p:nvPr/>
        </p:nvSpPr>
        <p:spPr>
          <a:xfrm>
            <a:off x="9226296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922629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Consulta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find({"datos.rfc":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"XAXX010101000"})</a:t>
            </a:r>
            <a:endParaRPr lang="en-US" sz="1200" dirty="0"/>
          </a:p>
        </p:txBody>
      </p:sp>
      <p:sp>
        <p:nvSpPr>
          <p:cNvPr id="24" name="Panel índice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588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86868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A52"/>
                </a:solidFill>
              </a:rPr>
              <a:t>ÍNDICE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0292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Sin índice: escaneo completo de la colección.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Con índice: búsqueda directa en campos anidados.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6634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db.tramites.createIndex(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"datos.rfc": 1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D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04 · EJEMPLO CONCRETO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trámites, una colección</a:t>
            </a:r>
            <a:endParaRPr lang="en-US" sz="3600" dirty="0"/>
          </a:p>
        </p:txBody>
      </p:sp>
      <p:sp>
        <p:nvSpPr>
          <p:cNvPr id="4" name="Licencia de funcionamiento"/>
          <p:cNvSpPr/>
          <p:nvPr/>
        </p:nvSpPr>
        <p:spPr>
          <a:xfrm>
            <a:off x="548640" y="1691640"/>
            <a:ext cx="5349240" cy="3154680"/>
          </a:xfrm>
          <a:prstGeom prst="roundRect">
            <a:avLst>
              <a:gd name="adj" fmla="val 289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licencia de funcionamiento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"tipo": "licencia",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"folio": "L-1042",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"fecha": "2026-10-20",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"datos":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"giro": "restaurante",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"m2": 85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Constancia de no adeudo"/>
          <p:cNvSpPr/>
          <p:nvPr/>
        </p:nvSpPr>
        <p:spPr>
          <a:xfrm>
            <a:off x="6263640" y="1691640"/>
            <a:ext cx="5349240" cy="3154680"/>
          </a:xfrm>
          <a:prstGeom prst="roundRect">
            <a:avLst>
              <a:gd name="adj" fmla="val 289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53796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7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constancia de no adeudo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4884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"tipo": "constancia",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"folio": "C-2087",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"fecha": "2026-10-21",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"datos":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"rfc": "XAXX010101000",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"adeudos":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Consulta"/>
          <p:cNvSpPr/>
          <p:nvPr/>
        </p:nvSpPr>
        <p:spPr>
          <a:xfrm>
            <a:off x="548640" y="507492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db.tramites.find({ "datos.giro": "restaurante" })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Misma colección, documentos distintos. Cero ALTER TABLE.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COMPARACIÓN CON 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encaja con lo que ya construimos</a:t>
            </a:r>
            <a:endParaRPr lang="en-US" sz="3600" dirty="0"/>
          </a:p>
        </p:txBody>
      </p:sp>
      <p:graphicFrame>
        <p:nvGraphicFramePr>
          <p:cNvPr id="8" name="Tabla compar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657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Concepto del curso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Implementación previa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Enfoque con MongoDB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01B"/>
                          </a:solidFill>
                        </a:rPr>
                        <a:t>Bases de datos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MySQL: esquema rígido de filas y columnas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Documentos dinámicos y flexibles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01B"/>
                          </a:solidFill>
                        </a:rPr>
                        <a:t>Infraestructura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Docker: API + MySQL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Un contenedor más: mongo:7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01B"/>
                          </a:solidFill>
                        </a:rPr>
                        <a:t>Capa de red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GraphQL: define la consulta externa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Almacenamiento interno: no altera GraphQL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01B"/>
                          </a:solidFill>
                        </a:rPr>
                        <a:t>Seguridad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Tokens / Auth en la API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01B"/>
                          </a:solidFill>
                        </a:rPr>
                        <a:t>La API sigue administrando la autenticación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MongoDB no cambia la API: cambia cómo se guarda un dato que no es tabla.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05 · COSTOS Y LÍMITES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y lo que cuesta</a:t>
            </a:r>
            <a:endParaRPr lang="en-US" sz="3600" dirty="0"/>
          </a:p>
        </p:txBody>
      </p:sp>
      <p:sp>
        <p:nvSpPr>
          <p:cNvPr id="4" name="LO QUE GANA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875A"/>
                </a:solidFill>
              </a:rPr>
              <a:t>LO QUE GANA</a:t>
            </a:r>
            <a:endParaRPr lang="en-US" sz="1400" dirty="0"/>
          </a:p>
        </p:txBody>
      </p:sp>
      <p:sp>
        <p:nvSpPr>
          <p:cNvPr id="6" name="Símbolo LO QUE GANA 1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Lecturas rápidas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898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 documento completo en una sola operación, sin JOIN</a:t>
            </a:r>
            <a:endParaRPr lang="en-US" sz="1400" dirty="0"/>
          </a:p>
        </p:txBody>
      </p:sp>
      <p:sp>
        <p:nvSpPr>
          <p:cNvPr id="10" name="Símbolo LO QUE GANA 2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Esquema flexible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9959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múltiples estructuras sin romper compatibilidad</a:t>
            </a:r>
            <a:endParaRPr lang="en-US" sz="1400" dirty="0"/>
          </a:p>
        </p:txBody>
      </p:sp>
      <p:sp>
        <p:nvSpPr>
          <p:cNvPr id="14" name="Símbolo LO QUE GANA 3"/>
          <p:cNvSpPr/>
          <p:nvPr/>
        </p:nvSpPr>
        <p:spPr>
          <a:xfrm>
            <a:off x="868680" y="4754880"/>
            <a:ext cx="457200" cy="45720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8686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Escalabilidad horizontal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932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réplicas y sharding de forma nativa</a:t>
            </a:r>
            <a:endParaRPr lang="en-US" sz="1400" dirty="0"/>
          </a:p>
        </p:txBody>
      </p:sp>
      <p:sp>
        <p:nvSpPr>
          <p:cNvPr id="18" name="LO QUE CUESTA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0392B"/>
                </a:solidFill>
              </a:rPr>
              <a:t>LO QUE CUESTA</a:t>
            </a:r>
            <a:endParaRPr lang="en-US" sz="1400" dirty="0"/>
          </a:p>
        </p:txBody>
      </p:sp>
      <p:sp>
        <p:nvSpPr>
          <p:cNvPr id="20" name="Símbolo LO QUE CUESTA 1"/>
          <p:cNvSpPr/>
          <p:nvPr/>
        </p:nvSpPr>
        <p:spPr>
          <a:xfrm>
            <a:off x="6583680" y="25603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583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－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Duplicidad de datos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898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la consistencia se controla desde la aplicación</a:t>
            </a:r>
            <a:endParaRPr lang="en-US" sz="1400" dirty="0"/>
          </a:p>
        </p:txBody>
      </p:sp>
      <p:sp>
        <p:nvSpPr>
          <p:cNvPr id="24" name="Símbolo LO QUE CUESTA 2"/>
          <p:cNvSpPr/>
          <p:nvPr/>
        </p:nvSpPr>
        <p:spPr>
          <a:xfrm>
            <a:off x="6583680" y="365760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6583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－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 JOIN nativos eficientes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9959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las relaciones complejas se resuelven en código</a:t>
            </a:r>
            <a:endParaRPr lang="en-US" sz="1400" dirty="0"/>
          </a:p>
        </p:txBody>
      </p:sp>
      <p:sp>
        <p:nvSpPr>
          <p:cNvPr id="28" name="Símbolo LO QUE CUESTA 3"/>
          <p:cNvSpPr/>
          <p:nvPr/>
        </p:nvSpPr>
        <p:spPr>
          <a:xfrm>
            <a:off x="6583680" y="47548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65836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－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Transacciones complejas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50932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multi-documento limitado frente a SQL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05 · CUÁNDO NO CONVIENE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MongoDB estorba</a:t>
            </a:r>
            <a:endParaRPr lang="en-US" sz="3600" dirty="0"/>
          </a:p>
        </p:txBody>
      </p:sp>
      <p:sp>
        <p:nvSpPr>
          <p:cNvPr id="4" name="Caso 1"/>
          <p:cNvSpPr/>
          <p:nvPr/>
        </p:nvSpPr>
        <p:spPr>
          <a:xfrm>
            <a:off x="548640" y="1828800"/>
            <a:ext cx="69494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9933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Datos muy relacionados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505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Pagos, contabilidad, nómina: SQL y JOIN son superiores.</a:t>
            </a:r>
            <a:endParaRPr lang="en-US" sz="1400" dirty="0"/>
          </a:p>
        </p:txBody>
      </p:sp>
      <p:sp>
        <p:nvSpPr>
          <p:cNvPr id="8" name="Caso 2"/>
          <p:cNvSpPr/>
          <p:nvPr/>
        </p:nvSpPr>
        <p:spPr>
          <a:xfrm>
            <a:off x="548640" y="3200400"/>
            <a:ext cx="69494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3649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Reportes de agregación compleja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822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Múltiples cruces analíticos entre tablas.</a:t>
            </a:r>
            <a:endParaRPr lang="en-US" sz="1400" dirty="0"/>
          </a:p>
        </p:txBody>
      </p:sp>
      <p:sp>
        <p:nvSpPr>
          <p:cNvPr id="12" name="Caso 3"/>
          <p:cNvSpPr/>
          <p:nvPr/>
        </p:nvSpPr>
        <p:spPr>
          <a:xfrm>
            <a:off x="548640" y="4572000"/>
            <a:ext cx="69494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22960" y="457200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7365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Transacciones ACID múltiples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51937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Cambios simultáneos en muchas entidades.</a:t>
            </a:r>
            <a:endParaRPr lang="en-US" sz="1400" dirty="0"/>
          </a:p>
        </p:txBody>
      </p:sp>
      <p:sp>
        <p:nvSpPr>
          <p:cNvPr id="16" name="Cita central"/>
          <p:cNvSpPr/>
          <p:nvPr/>
        </p:nvSpPr>
        <p:spPr>
          <a:xfrm>
            <a:off x="7863840" y="1828800"/>
            <a:ext cx="3749040" cy="3886200"/>
          </a:xfrm>
          <a:prstGeom prst="roundRect">
            <a:avLst>
              <a:gd name="adj" fmla="val 243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8183880" y="210312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todo se relaciona con todo, MongoDB te obliga a duplicar demasiados datos.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B6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D8C8"/>
                </a:solidFill>
              </a:rPr>
              <a:t>6. CIERRE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no elimina el esquema: lo mueve a la aplicación.</a:t>
            </a:r>
            <a:endParaRPr lang="en-US" sz="4000" dirty="0"/>
          </a:p>
        </p:txBody>
      </p:sp>
      <p:sp>
        <p:nvSpPr>
          <p:cNvPr id="4" name="Conclusión 01"/>
          <p:cNvSpPr/>
          <p:nvPr/>
        </p:nvSpPr>
        <p:spPr>
          <a:xfrm>
            <a:off x="731520" y="33832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34F3C"/>
          </a:solidFill>
          <a:ln w="12700">
            <a:solidFill>
              <a:srgbClr val="134F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100584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A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 documento sigue al dato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D8C8"/>
                </a:solidFill>
              </a:rPr>
              <a:t>no al revés</a:t>
            </a:r>
            <a:endParaRPr lang="en-US" sz="1400" dirty="0"/>
          </a:p>
        </p:txBody>
      </p:sp>
      <p:sp>
        <p:nvSpPr>
          <p:cNvPr id="8" name="Conclusión 02"/>
          <p:cNvSpPr/>
          <p:nvPr/>
        </p:nvSpPr>
        <p:spPr>
          <a:xfrm>
            <a:off x="4389120" y="33832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34F3C"/>
          </a:solidFill>
          <a:ln w="12700">
            <a:solidFill>
              <a:srgbClr val="134F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66344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A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Flexibilidad no es desorden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572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D8C8"/>
                </a:solidFill>
              </a:rPr>
              <a:t>el esquema se diseña, no se deja al azar</a:t>
            </a:r>
            <a:endParaRPr lang="en-US" sz="1400" dirty="0"/>
          </a:p>
        </p:txBody>
      </p:sp>
      <p:sp>
        <p:nvSpPr>
          <p:cNvPr id="12" name="Conclusión 03"/>
          <p:cNvSpPr/>
          <p:nvPr/>
        </p:nvSpPr>
        <p:spPr>
          <a:xfrm>
            <a:off x="8046720" y="338328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34F3C"/>
          </a:solidFill>
          <a:ln w="12700">
            <a:solidFill>
              <a:srgbClr val="134F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32104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A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Herramienta complementaria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572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D8C8"/>
                </a:solidFill>
              </a:rPr>
              <a:t>no reemplaza a SQL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6035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goDB Equipo 3">
  <a:themeElements>
    <a:clrScheme name="MongoDB Equipo 3">
      <a:dk1>
        <a:srgbClr val="14201B"/>
      </a:dk1>
      <a:lt1>
        <a:srgbClr val="FFFFFF"/>
      </a:lt1>
      <a:dk2>
        <a:srgbClr val="0B3D2E"/>
      </a:dk2>
      <a:lt2>
        <a:srgbClr val="F2F5F3"/>
      </a:lt2>
      <a:accent1>
        <a:srgbClr val="00875A"/>
      </a:accent1>
      <a:accent2>
        <a:srgbClr val="13AA52"/>
      </a:accent2>
      <a:accent3>
        <a:srgbClr val="B8D8C8"/>
      </a:accent3>
      <a:accent4>
        <a:srgbClr val="C0392B"/>
      </a:accent4>
      <a:accent5>
        <a:srgbClr val="5B6B64"/>
      </a:accent5>
      <a:accent6>
        <a:srgbClr val="E8F1EC"/>
      </a:accent6>
      <a:hlink>
        <a:srgbClr val="00875A"/>
      </a:hlink>
      <a:folHlink>
        <a:srgbClr val="5B6B64"/>
      </a:folHlink>
    </a:clrScheme>
    <a:fontScheme name="MongoDB Equipo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1311</Words>
  <Application>Microsoft Office PowerPoint</Application>
  <PresentationFormat>Panorámica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MongoDB Equipo 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MongoDB: Documentos cuando la fila no es la forma natural</dc:title>
  <dc:subject>PptxGenJS Presentation</dc:subject>
  <dc:creator>Equipo 3</dc:creator>
  <cp:lastModifiedBy>Marco Damián Coba Góngora</cp:lastModifiedBy>
  <cp:revision>3</cp:revision>
  <dcterms:created xsi:type="dcterms:W3CDTF">2026-10-26T06:21:55Z</dcterms:created>
  <dcterms:modified xsi:type="dcterms:W3CDTF">2026-10-26T13:54:13Z</dcterms:modified>
</cp:coreProperties>
</file>