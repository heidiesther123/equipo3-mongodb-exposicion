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0:00–0:40 · Saludo y presentación. Entrada: «No vamos a decir que MongoDB es mejor que MySQL. Vamos a ver cuándo un dato no tiene forma de fila».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0:40–1:10 · Enumerar las seis partes, sin explicar todavía.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1:10–3:30 · Preguntar: «¿qué pasa cuando el trámite 13 trae tres campos que los otros no tienen?». Explicar el costo real: ALTER TABLE, columnas NULL y JOINs para reconstruir un solo trámite.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3:30–5:30 · Documento = JSON. Colección = grupo de documentos, como una tabla pero sin columnas fijas. Aclarar que «sin esquema» no significa «sin diseño»: el esquema se decide en la aplicación.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5:30–7:30 · Recorrer los cuatro pasos. Mostrar que «datos.rfc» es un campo dentro del documento. El índice es el equivalente al índice de MySQL: sin él, todo se escanea.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7:30–9:30 · Enseñar los dos documentos: comparten tipo y folio, pero «datos» es distinto. La consulta entra al objeto anidado. Ese es el punto: un documento se lee completo, sin JOIN.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9:30–11:00 · Comparar con MySQL, Docker, GraphQL y el token. La idea: no es un tema suelto, es otra forma de guardar dentro del mismo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11:00–12:30 · Ser honestos: Mongo no es más fácil, es distinto. Si el documento se diseña mal, se duplica todo y las actualizaciones se vuelven un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12:30–13:30 · Tres casos del sistema: pagos, reportes y movimientos que tocan varias entidades. Cerrar con la pregunta guía: leer completo, cambiar por bloques.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13:30–14:30 · En vivo: insertar los dos documentos y enseñar que la colección acepta ambos. Si no hay tiempo, solo el segundo insert y el find.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14:30–15:00 · Cerrar con la frase grande. Recordar que el equipo también debe hacer una pregunta al equipo que expone 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5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32520" y="1051560"/>
            <a:ext cx="4023360" cy="4023360"/>
          </a:xfrm>
          <a:prstGeom prst="ellipse">
            <a:avLst/>
          </a:prstGeom>
          <a:noFill/>
          <a:ln w="19050">
            <a:solidFill>
              <a:srgbClr val="00E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29800" y="2148840"/>
            <a:ext cx="1828800" cy="1828800"/>
          </a:xfrm>
          <a:prstGeom prst="ellipse">
            <a:avLst/>
          </a:prstGeom>
          <a:noFill/>
          <a:ln w="12700">
            <a:solidFill>
              <a:srgbClr val="1E4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FC4B2"/>
                </a:solidFill>
                <a:latin typeface="Segoe UI"/>
              </a:rPr>
              <a:t>FUNDAMENTOS DE ARQUITECTURA DE SOFTWARE Y DESARROLLO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7863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800" b="1">
                <a:solidFill>
                  <a:srgbClr val="FFFFFF"/>
                </a:solidFill>
                <a:latin typeface="Segoe UI Semibold"/>
              </a:rPr>
              <a:t>MongoDB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154680"/>
            <a:ext cx="7132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FE8E2"/>
                </a:solidFill>
                <a:latin typeface="Segoe UI"/>
              </a:rPr>
              <a:t>Documentos cuando la fila no es la forma natural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224528"/>
            <a:ext cx="822960" cy="45720"/>
          </a:xfrm>
          <a:prstGeom prst="rect">
            <a:avLst/>
          </a:prstGeom>
          <a:solidFill>
            <a:srgbClr val="00E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526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Equipo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892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FD9D3"/>
                </a:solidFill>
                <a:latin typeface="Segoe UI"/>
              </a:rPr>
              <a:t>Heidi  ·  Scarlet  ·  Damian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440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8F89"/>
                </a:solidFill>
                <a:latin typeface="Segoe UI"/>
              </a:rPr>
              <a:t>Unidad II · Exposición  ·  21 de octubre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875A"/>
                </a:solidFill>
                <a:latin typeface="Segoe UI"/>
              </a:rPr>
              <a:t>ORDEN DE LA EXPOSICIÓN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A1716"/>
                </a:solidFill>
                <a:latin typeface="Segoe UI Semibold"/>
              </a:rPr>
              <a:t>Seis partes, quince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525780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41832" y="2048256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875A"/>
                </a:solidFill>
                <a:latin typeface="Segoe UI Semibol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9928" y="2039112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716"/>
                </a:solidFill>
                <a:latin typeface="Segoe UI"/>
              </a:rPr>
              <a:t>El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9928" y="2450592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662"/>
                </a:solidFill>
                <a:latin typeface="Segoe UI"/>
              </a:rPr>
              <a:t>Un trámite no cabe en una tabla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5780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73952" y="2048256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875A"/>
                </a:solidFill>
                <a:latin typeface="Segoe UI Semibold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2048" y="2039112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716"/>
                </a:solidFill>
                <a:latin typeface="Segoe UI"/>
              </a:rPr>
              <a:t>Qué es MongoDB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2048" y="2450592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662"/>
                </a:solidFill>
                <a:latin typeface="Segoe UI"/>
              </a:rPr>
              <a:t>Documentos, no filas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246120"/>
            <a:ext cx="525780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41832" y="3465576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875A"/>
                </a:solidFill>
                <a:latin typeface="Segoe UI Semibold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9928" y="3456432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716"/>
                </a:solidFill>
                <a:latin typeface="Segoe UI"/>
              </a:rPr>
              <a:t>Cómo se usa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9928" y="3867911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662"/>
                </a:solidFill>
                <a:latin typeface="Segoe UI"/>
              </a:rPr>
              <a:t>Base → colección → documento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246120"/>
            <a:ext cx="525780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73952" y="3465576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875A"/>
                </a:solidFill>
                <a:latin typeface="Segoe UI Semibol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42048" y="3456432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716"/>
                </a:solidFill>
                <a:latin typeface="Segoe UI"/>
              </a:rPr>
              <a:t>Ejemplo concreto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2048" y="3867911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662"/>
                </a:solidFill>
                <a:latin typeface="Segoe UI"/>
              </a:rPr>
              <a:t>Dos trámites, una colección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663440"/>
            <a:ext cx="525780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41832" y="4882896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875A"/>
                </a:solidFill>
                <a:latin typeface="Segoe UI Semibold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9928" y="4873752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716"/>
                </a:solidFill>
                <a:latin typeface="Segoe UI"/>
              </a:rPr>
              <a:t>Costos y límites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9928" y="5285231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662"/>
                </a:solidFill>
                <a:latin typeface="Segoe UI"/>
              </a:rPr>
              <a:t>Cuándo sí y cuándo no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663440"/>
            <a:ext cx="525780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73952" y="4882896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875A"/>
                </a:solidFill>
                <a:latin typeface="Segoe UI Semibold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42048" y="4873752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716"/>
                </a:solidFill>
                <a:latin typeface="Segoe UI"/>
              </a:rPr>
              <a:t>Demo y cierre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42048" y="5285231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662"/>
                </a:solidFill>
                <a:latin typeface="Segoe UI"/>
              </a:rPr>
              <a:t>Sin ALTER TABLE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875A"/>
                </a:solidFill>
                <a:latin typeface="Segoe UI"/>
              </a:rPr>
              <a:t>01 · 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A1716"/>
                </a:solidFill>
                <a:latin typeface="Segoe UI Semibold"/>
              </a:rPr>
              <a:t>Un trámite no cabe en una tabla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05A3C"/>
                </a:solidFill>
                <a:latin typeface="Consolas"/>
              </a:rPr>
              <a:t>ALTER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97480"/>
            <a:ext cx="4480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A1716"/>
                </a:solidFill>
                <a:latin typeface="Segoe UI"/>
              </a:rPr>
              <a:t>una vez por cada tipo
de trámite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60520"/>
            <a:ext cx="4343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E6662"/>
                </a:solidFill>
                <a:latin typeface="Segoe UI"/>
              </a:rPr>
              <a:t>Licencia de funcionamiento, constancia de no adeudo y
cada trámite nuevo traen campos distintos.</a:t>
            </a:r>
          </a:p>
        </p:txBody>
      </p:sp>
      <p:sp>
        <p:nvSpPr>
          <p:cNvPr id="7" name="Oval 6"/>
          <p:cNvSpPr/>
          <p:nvPr/>
        </p:nvSpPr>
        <p:spPr>
          <a:xfrm>
            <a:off x="5989320" y="1965960"/>
            <a:ext cx="91440" cy="91440"/>
          </a:xfrm>
          <a:prstGeom prst="ellipse">
            <a:avLst/>
          </a:prstGeom>
          <a:solidFill>
            <a:srgbClr val="008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874519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716"/>
                </a:solidFill>
                <a:latin typeface="Segoe UI"/>
              </a:rPr>
              <a:t>Columnas de más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240279"/>
            <a:ext cx="5166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662"/>
                </a:solidFill>
                <a:latin typeface="Segoe UI"/>
              </a:rPr>
              <a:t>cada tipo nuevo obliga a modificar la tabla.</a:t>
            </a:r>
          </a:p>
        </p:txBody>
      </p:sp>
      <p:sp>
        <p:nvSpPr>
          <p:cNvPr id="10" name="Oval 9"/>
          <p:cNvSpPr/>
          <p:nvPr/>
        </p:nvSpPr>
        <p:spPr>
          <a:xfrm>
            <a:off x="5989320" y="3383279"/>
            <a:ext cx="91440" cy="91440"/>
          </a:xfrm>
          <a:prstGeom prst="ellipse">
            <a:avLst/>
          </a:prstGeom>
          <a:solidFill>
            <a:srgbClr val="008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3291839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716"/>
                </a:solidFill>
                <a:latin typeface="Segoe UI"/>
              </a:rPr>
              <a:t>Filas a medias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657599"/>
            <a:ext cx="5166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662"/>
                </a:solidFill>
                <a:latin typeface="Segoe UI"/>
              </a:rPr>
              <a:t>la mayoría de los campos quedan en NULL.</a:t>
            </a:r>
          </a:p>
        </p:txBody>
      </p:sp>
      <p:sp>
        <p:nvSpPr>
          <p:cNvPr id="13" name="Oval 12"/>
          <p:cNvSpPr/>
          <p:nvPr/>
        </p:nvSpPr>
        <p:spPr>
          <a:xfrm>
            <a:off x="5989320" y="4800599"/>
            <a:ext cx="91440" cy="91440"/>
          </a:xfrm>
          <a:prstGeom prst="ellipse">
            <a:avLst/>
          </a:prstGeom>
          <a:solidFill>
            <a:srgbClr val="008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4709159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716"/>
                </a:solidFill>
                <a:latin typeface="Segoe UI"/>
              </a:rPr>
              <a:t>Datos repartidos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5074920"/>
            <a:ext cx="5166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662"/>
                </a:solidFill>
                <a:latin typeface="Segoe UI"/>
              </a:rPr>
              <a:t>el trámite se lee con varias tablas y JOIN.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925312"/>
            <a:ext cx="10789920" cy="384048"/>
          </a:xfrm>
          <a:prstGeom prst="rect">
            <a:avLst/>
          </a:prstGeom>
          <a:solidFill>
            <a:srgbClr val="1A1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5980176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El documento debería seguir al dato, no al revés.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07A"/>
                </a:solidFill>
                <a:latin typeface="Segoe UI"/>
              </a:rPr>
              <a:t>Equipo 3  ·  MongoDB  ·  Unidad II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465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07A"/>
                </a:solidFill>
                <a:latin typeface="Segoe UI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875A"/>
                </a:solidFill>
                <a:latin typeface="Segoe UI"/>
              </a:rPr>
              <a:t>02 · QUÉ ES MONGODB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A1716"/>
                </a:solidFill>
                <a:latin typeface="Segoe UI Semibold"/>
              </a:rPr>
              <a:t>Documentos, no filas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E6662"/>
                </a:solidFill>
                <a:latin typeface="Segoe UI"/>
              </a:rPr>
              <a:t>Cada registro es un documento JSON (BSON) que se guarda completo en una colección.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331720"/>
            <a:ext cx="256032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254203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875A"/>
                </a:solidFill>
                <a:latin typeface="Segoe UI"/>
              </a:rPr>
              <a:t>SERVICIO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5292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716"/>
                </a:solidFill>
                <a:latin typeface="Segoe UI"/>
              </a:rPr>
              <a:t>Servidor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10128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662"/>
                </a:solidFill>
                <a:latin typeface="Segoe UI"/>
              </a:rPr>
              <a:t>Proceso mongod.
Escucha en el puerto 27017.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331720"/>
            <a:ext cx="256032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657600" y="254203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875A"/>
                </a:solidFill>
                <a:latin typeface="Segoe UI"/>
              </a:rPr>
              <a:t>LIBRERÍA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85292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716"/>
                </a:solidFill>
                <a:latin typeface="Segoe UI"/>
              </a:rPr>
              <a:t>Cliente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310128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662"/>
                </a:solidFill>
                <a:latin typeface="Segoe UI"/>
              </a:rPr>
              <a:t>Librería dentro de la API:
pymongo o mongoose.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331720"/>
            <a:ext cx="256032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0" y="254203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875A"/>
                </a:solidFill>
                <a:latin typeface="Segoe UI"/>
              </a:rPr>
              <a:t>CONSOLA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5292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716"/>
                </a:solidFill>
                <a:latin typeface="Segoe UI"/>
              </a:rPr>
              <a:t>Shell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310128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662"/>
                </a:solidFill>
                <a:latin typeface="Segoe UI"/>
              </a:rPr>
              <a:t>mongosh para mirar y probar:
find, insertOne, updateOne.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2331720"/>
            <a:ext cx="256032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0" y="254203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875A"/>
                </a:solidFill>
                <a:latin typeface="Segoe UI"/>
              </a:rPr>
              <a:t>OPCIONAL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85292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716"/>
                </a:solidFill>
                <a:latin typeface="Segoe UI"/>
              </a:rPr>
              <a:t>Nube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310128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662"/>
                </a:solidFill>
                <a:latin typeface="Segoe UI"/>
              </a:rPr>
              <a:t>Atlas: el mismo motor
sin instalar servidor.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029200"/>
            <a:ext cx="10789920" cy="713232"/>
          </a:xfrm>
          <a:prstGeom prst="roundRect">
            <a:avLst>
              <a:gd name="adj" fmla="val 12000"/>
            </a:avLst>
          </a:prstGeom>
          <a:solidFill>
            <a:srgbClr val="E2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21208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5A3C"/>
                </a:solidFill>
                <a:latin typeface="Segoe UI"/>
              </a:rPr>
              <a:t>No reemplaza a MySQL: guarda lo que no tiene forma de fila.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07A"/>
                </a:solidFill>
                <a:latin typeface="Segoe UI"/>
              </a:rPr>
              <a:t>Equipo 3  ·  MongoDB  ·  Unidad II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465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07A"/>
                </a:solidFill>
                <a:latin typeface="Segoe UI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875A"/>
                </a:solidFill>
                <a:latin typeface="Segoe UI"/>
              </a:rPr>
              <a:t>03 · CÓMO SE USA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A1716"/>
                </a:solidFill>
                <a:latin typeface="Segoe UI Semibold"/>
              </a:rPr>
              <a:t>Base → colección → documento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248716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86968" y="2011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0875A"/>
                </a:solidFill>
                <a:latin typeface="Segoe UI Semibol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606040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716"/>
                </a:solidFill>
                <a:latin typeface="Segoe UI"/>
              </a:rPr>
              <a:t>Elige base y colección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3291840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662"/>
                </a:solidFill>
                <a:latin typeface="Consolas"/>
              </a:rPr>
              <a:t>ingresos
.tramites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8" y="1874519"/>
            <a:ext cx="248716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48456" y="2011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0875A"/>
                </a:solidFill>
                <a:latin typeface="Segoe UI Semibol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2606040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716"/>
                </a:solidFill>
                <a:latin typeface="Segoe UI"/>
              </a:rPr>
              <a:t>Arma el documento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8456" y="3291840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662"/>
                </a:solidFill>
                <a:latin typeface="Consolas"/>
              </a:rPr>
              <a:t>JSON con los campos
que ese trámite tiene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874519"/>
            <a:ext cx="248716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9944" y="2011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0875A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2606040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716"/>
                </a:solidFill>
                <a:latin typeface="Segoe UI"/>
              </a:rPr>
              <a:t>Inserta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3291840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662"/>
                </a:solidFill>
                <a:latin typeface="Consolas"/>
              </a:rPr>
              <a:t>db.tramites
.insertOne(doc)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0264" y="1874519"/>
            <a:ext cx="248716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71432" y="2011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0875A"/>
                </a:solidFill>
                <a:latin typeface="Segoe UI Semibol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1432" y="2606040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716"/>
                </a:solidFill>
                <a:latin typeface="Segoe UI"/>
              </a:rPr>
              <a:t>Consulta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3291840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662"/>
                </a:solidFill>
                <a:latin typeface="Consolas"/>
              </a:rPr>
              <a:t>find({"datos.rfc":
"XAXX010101000"})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209544" y="2852928"/>
            <a:ext cx="201168" cy="164592"/>
          </a:xfrm>
          <a:prstGeom prst="rightArrow">
            <a:avLst/>
          </a:prstGeom>
          <a:solidFill>
            <a:srgbClr val="008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5971031" y="2852928"/>
            <a:ext cx="201168" cy="164592"/>
          </a:xfrm>
          <a:prstGeom prst="rightArrow">
            <a:avLst/>
          </a:prstGeom>
          <a:solidFill>
            <a:srgbClr val="008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8732520" y="2852928"/>
            <a:ext cx="201168" cy="164592"/>
          </a:xfrm>
          <a:prstGeom prst="rightArrow">
            <a:avLst/>
          </a:prstGeom>
          <a:solidFill>
            <a:srgbClr val="008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4526280"/>
            <a:ext cx="10789920" cy="1234440"/>
          </a:xfrm>
          <a:prstGeom prst="roundRect">
            <a:avLst>
              <a:gd name="adj" fmla="val 6000"/>
            </a:avLst>
          </a:prstGeom>
          <a:solidFill>
            <a:srgbClr val="1A1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05840" y="468172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ED64"/>
                </a:solidFill>
                <a:latin typeface="Segoe UI Semibold"/>
              </a:rPr>
              <a:t>ÍNDICE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4709160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Sin índice, Mongo recorre toda la colección.
Con índice, la consulta por campo anidado es directa.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75488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9E6C9"/>
                </a:solidFill>
                <a:latin typeface="Consolas"/>
              </a:rPr>
              <a:t>createIndex({
 "datos.rfc": 1 })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07A"/>
                </a:solidFill>
                <a:latin typeface="Segoe UI"/>
              </a:rPr>
              <a:t>Equipo 3  ·  MongoDB  ·  Unidad II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4465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07A"/>
                </a:solidFill>
                <a:latin typeface="Segoe UI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875A"/>
                </a:solidFill>
                <a:latin typeface="Segoe UI"/>
              </a:rPr>
              <a:t>04 · EJEMPLO CONCRETO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A1716"/>
                </a:solidFill>
                <a:latin typeface="Segoe UI Semibold"/>
              </a:rPr>
              <a:t>Dos trámites, una colección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5166360" cy="2377440"/>
          </a:xfrm>
          <a:prstGeom prst="roundRect">
            <a:avLst>
              <a:gd name="adj" fmla="val 6000"/>
            </a:avLst>
          </a:prstGeom>
          <a:solidFill>
            <a:srgbClr val="13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41832" y="188366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FBFA8"/>
                </a:solidFill>
                <a:latin typeface="Consolas"/>
              </a:rPr>
              <a:t>// licencia de funcionamiento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194560"/>
            <a:ext cx="47091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8E2DD"/>
                </a:solidFill>
                <a:latin typeface="Consolas"/>
              </a:rPr>
              <a:t>{
  "tipo": "licencia",
  "folio": "L-1042",
  "fecha": "2026-10-20",
  "datos": {
    "giro": "restaurante",
    "m2": 85
  }
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166360" cy="2377440"/>
          </a:xfrm>
          <a:prstGeom prst="roundRect">
            <a:avLst>
              <a:gd name="adj" fmla="val 6000"/>
            </a:avLst>
          </a:prstGeom>
          <a:solidFill>
            <a:srgbClr val="13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65392" y="188366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FBFA8"/>
                </a:solidFill>
                <a:latin typeface="Consolas"/>
              </a:rPr>
              <a:t>// constancia de no adeudo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194560"/>
            <a:ext cx="47091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8E2DD"/>
                </a:solidFill>
                <a:latin typeface="Consolas"/>
              </a:rPr>
              <a:t>{
  "tipo": "constancia",
  "folio": "C-2087",
  "fecha": "2026-10-21",
  "datos": {
    "rfc": "XAXX010101000",
    "adeudos": 0
  }
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370832"/>
            <a:ext cx="10789920" cy="658368"/>
          </a:xfrm>
          <a:prstGeom prst="roundRect">
            <a:avLst>
              <a:gd name="adj" fmla="val 6000"/>
            </a:avLst>
          </a:prstGeom>
          <a:solidFill>
            <a:srgbClr val="FBF9F6"/>
          </a:solidFill>
          <a:ln w="12700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41832" y="4507992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5A3C"/>
                </a:solidFill>
                <a:latin typeface="Consolas"/>
              </a:rPr>
              <a:t>db.tramites.find({ "datos.giro": "restaurante" })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2578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A1716"/>
                </a:solidFill>
                <a:latin typeface="Segoe UI"/>
              </a:rPr>
              <a:t>Misma colección, documentos distintos. Ningún ALTER 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71500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662"/>
                </a:solidFill>
                <a:latin typeface="Segoe UI"/>
              </a:rPr>
              <a:t>En MySQL serían dos tablas, o una tabla con la mitad de las columnas en NULL.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07A"/>
                </a:solidFill>
                <a:latin typeface="Segoe UI"/>
              </a:rPr>
              <a:t>Equipo 3  ·  MongoDB  ·  Unidad 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465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07A"/>
                </a:solidFill>
                <a:latin typeface="Segoe UI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875A"/>
                </a:solidFill>
                <a:latin typeface="Segoe UI"/>
              </a:rPr>
              <a:t>COMPARACIÓN CON EL CURSO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A1716"/>
                </a:solidFill>
                <a:latin typeface="Segoe UI Semibold"/>
              </a:rPr>
              <a:t>Dónde encaja con lo que ya construimos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783080"/>
          <a:ext cx="10789920" cy="3136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572000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Ya lo vimos</a:t>
                      </a:r>
                    </a:p>
                  </a:txBody>
                  <a:tcPr marL="164592" marR="109728" marT="54864" marB="54864" anchor="ctr">
                    <a:solidFill>
                      <a:srgbClr val="1A17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Cómo funciona</a:t>
                      </a:r>
                    </a:p>
                  </a:txBody>
                  <a:tcPr marL="164592" marR="109728" marT="54864" marB="54864" anchor="ctr">
                    <a:solidFill>
                      <a:srgbClr val="1A17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Dónde entra MongoDB</a:t>
                      </a:r>
                    </a:p>
                  </a:txBody>
                  <a:tcPr marL="164592" marR="109728" marT="54864" marB="54864" anchor="ctr">
                    <a:solidFill>
                      <a:srgbClr val="1A171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716"/>
                          </a:solidFill>
                          <a:latin typeface="Segoe UI"/>
                        </a:rPr>
                        <a:t>MySQL</a:t>
                      </a:r>
                    </a:p>
                  </a:txBody>
                  <a:tcPr marL="164592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6E6662"/>
                          </a:solidFill>
                          <a:latin typeface="Segoe UI"/>
                        </a:rPr>
                        <a:t>Filas y columnas con esquema fijo</a:t>
                      </a:r>
                    </a:p>
                  </a:txBody>
                  <a:tcPr marL="164592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6E6662"/>
                          </a:solidFill>
                          <a:latin typeface="Segoe UI"/>
                        </a:rPr>
                        <a:t>Documentos con campos variables</a:t>
                      </a:r>
                    </a:p>
                  </a:txBody>
                  <a:tcPr marL="164592" marR="109728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716"/>
                          </a:solidFill>
                          <a:latin typeface="Segoe UI"/>
                        </a:rPr>
                        <a:t>Docker</a:t>
                      </a:r>
                    </a:p>
                  </a:txBody>
                  <a:tcPr marL="164592" marR="109728" marT="45720" marB="45720" anchor="ctr">
                    <a:solidFill>
                      <a:srgbClr val="FBF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6E6662"/>
                          </a:solidFill>
                          <a:latin typeface="Segoe UI"/>
                        </a:rPr>
                        <a:t>Levanta la API y la base de datos</a:t>
                      </a:r>
                    </a:p>
                  </a:txBody>
                  <a:tcPr marL="164592" marR="109728" marT="45720" marB="45720" anchor="ctr">
                    <a:solidFill>
                      <a:srgbClr val="FBF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6E6662"/>
                          </a:solidFill>
                          <a:latin typeface="Segoe UI"/>
                        </a:rPr>
                        <a:t>Un contenedor más: mongo:7</a:t>
                      </a:r>
                    </a:p>
                  </a:txBody>
                  <a:tcPr marL="164592" marR="109728" marT="45720" marB="45720" anchor="ctr">
                    <a:solidFill>
                      <a:srgbClr val="FBF9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716"/>
                          </a:solidFill>
                          <a:latin typeface="Segoe UI"/>
                        </a:rPr>
                        <a:t>GraphQL</a:t>
                      </a:r>
                    </a:p>
                  </a:txBody>
                  <a:tcPr marL="164592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6E6662"/>
                          </a:solidFill>
                          <a:latin typeface="Segoe UI"/>
                        </a:rPr>
                        <a:t>Define qué datos pide el cliente</a:t>
                      </a:r>
                    </a:p>
                  </a:txBody>
                  <a:tcPr marL="164592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6E6662"/>
                          </a:solidFill>
                          <a:latin typeface="Segoe UI"/>
                        </a:rPr>
                        <a:t>No es una API: es almacenamiento interno</a:t>
                      </a:r>
                    </a:p>
                  </a:txBody>
                  <a:tcPr marL="164592" marR="109728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716"/>
                          </a:solidFill>
                          <a:latin typeface="Segoe UI"/>
                        </a:rPr>
                        <a:t>Token / permisos</a:t>
                      </a:r>
                    </a:p>
                  </a:txBody>
                  <a:tcPr marL="164592" marR="109728" marT="45720" marB="45720" anchor="ctr">
                    <a:solidFill>
                      <a:srgbClr val="FBF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6E6662"/>
                          </a:solidFill>
                          <a:latin typeface="Segoe UI"/>
                        </a:rPr>
                        <a:t>Deciden quién puede entrar</a:t>
                      </a:r>
                    </a:p>
                  </a:txBody>
                  <a:tcPr marL="164592" marR="109728" marT="45720" marB="45720" anchor="ctr">
                    <a:solidFill>
                      <a:srgbClr val="FBF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6E6662"/>
                          </a:solidFill>
                          <a:latin typeface="Segoe UI"/>
                        </a:rPr>
                        <a:t>No autentica: la API sigue validando</a:t>
                      </a:r>
                    </a:p>
                  </a:txBody>
                  <a:tcPr marL="164592" marR="109728" marT="45720" marB="45720" anchor="ctr">
                    <a:solidFill>
                      <a:srgbClr val="FBF9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44068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5A3C"/>
                </a:solidFill>
                <a:latin typeface="Segoe UI Semibold"/>
              </a:rPr>
              <a:t>MongoDB no cambia la API: cambia cómo se guarda un dato que no es tabla.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07A"/>
                </a:solidFill>
                <a:latin typeface="Segoe UI"/>
              </a:rPr>
              <a:t>Equipo 3  ·  MongoDB  ·  Unidad 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465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07A"/>
                </a:solidFill>
                <a:latin typeface="Segoe UI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875A"/>
                </a:solidFill>
                <a:latin typeface="Segoe UI"/>
              </a:rPr>
              <a:t>05 · COSTOS Y LÍMITES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A1716"/>
                </a:solidFill>
                <a:latin typeface="Segoe UI Semibold"/>
              </a:rPr>
              <a:t>Lo que gana y lo que cuesta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83080"/>
            <a:ext cx="52578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B55"/>
                </a:solidFill>
                <a:latin typeface="Segoe UI"/>
              </a:rPr>
              <a:t>LO QUE GANA EL EQUIPO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957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716"/>
                </a:solidFill>
                <a:latin typeface="Segoe UI"/>
              </a:rPr>
              <a:t>＋  Un trámite, un documento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662"/>
                </a:solidFill>
                <a:latin typeface="Segoe UI"/>
              </a:rPr>
              <a:t>se lee completo, sin JOIN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716"/>
                </a:solidFill>
                <a:latin typeface="Segoe UI"/>
              </a:rPr>
              <a:t>＋  Esquema flexible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36499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662"/>
                </a:solidFill>
                <a:latin typeface="Segoe UI"/>
              </a:rPr>
              <a:t>cada tipo trae sus propios campos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716"/>
                </a:solidFill>
                <a:latin typeface="Segoe UI"/>
              </a:rPr>
              <a:t>＋  Menos migraciones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07822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662"/>
                </a:solidFill>
                <a:latin typeface="Segoe UI"/>
              </a:rPr>
              <a:t>no hay ALTER TABLE por cada tipo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3542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716"/>
                </a:solidFill>
                <a:latin typeface="Segoe UI"/>
              </a:rPr>
              <a:t>＋  Escala horizontal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791456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662"/>
                </a:solidFill>
                <a:latin typeface="Segoe UI"/>
              </a:rPr>
              <a:t>réplicas para muchas lecturas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83080"/>
            <a:ext cx="52578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37960" y="1965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5A3C"/>
                </a:solidFill>
                <a:latin typeface="Segoe UI"/>
              </a:rPr>
              <a:t>LO QUE CUESTA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3957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716"/>
                </a:solidFill>
                <a:latin typeface="Segoe UI"/>
              </a:rPr>
              <a:t>－  Duplicar 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6517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662"/>
                </a:solidFill>
                <a:latin typeface="Segoe UI"/>
              </a:rPr>
              <a:t>lo que se repite hay que mantenerlo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1089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716"/>
                </a:solidFill>
                <a:latin typeface="Segoe UI"/>
              </a:rPr>
              <a:t>－  Sin JOIN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36499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662"/>
                </a:solidFill>
                <a:latin typeface="Segoe UI"/>
              </a:rPr>
              <a:t>las relaciones se resuelven en la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8221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716"/>
                </a:solidFill>
                <a:latin typeface="Segoe UI"/>
              </a:rPr>
              <a:t>－  Transacciones limitadas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078224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662"/>
                </a:solidFill>
                <a:latin typeface="Segoe UI"/>
              </a:rPr>
              <a:t>cuidado al tocar varias colecciones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53542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716"/>
                </a:solidFill>
                <a:latin typeface="Segoe UI"/>
              </a:rPr>
              <a:t>－  Otro modelo que aprender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791456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662"/>
                </a:solidFill>
                <a:latin typeface="Segoe UI"/>
              </a:rPr>
              <a:t>el equipo ya piensa en 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62356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662"/>
                </a:solidFill>
                <a:latin typeface="Segoe UI"/>
              </a:rPr>
              <a:t>El costo real no es el motor: es diseñar bien el documento antes de guardarlo.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07A"/>
                </a:solidFill>
                <a:latin typeface="Segoe UI"/>
              </a:rPr>
              <a:t>Equipo 3  ·  MongoDB  ·  Unidad 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4465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07A"/>
                </a:solidFill>
                <a:latin typeface="Segoe UI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875A"/>
                </a:solidFill>
                <a:latin typeface="Segoe UI"/>
              </a:rPr>
              <a:t>05 · CUÁNDO NO CONVIENE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A1716"/>
                </a:solidFill>
                <a:latin typeface="Segoe UI Semibold"/>
              </a:rPr>
              <a:t>Cuándo MongoDB estorba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875A"/>
                </a:solidFill>
                <a:latin typeface="Segoe U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801368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A1716"/>
                </a:solidFill>
                <a:latin typeface="Segoe UI"/>
              </a:rPr>
              <a:t>Datos muy relacionados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19456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662"/>
                </a:solidFill>
                <a:latin typeface="Segoe UI"/>
              </a:rPr>
              <a:t>pagos, contabilidad, nómina: el JOIN es la herramienta correcta.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875A"/>
                </a:solidFill>
                <a:latin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035808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A1716"/>
                </a:solidFill>
                <a:latin typeface="Segoe UI"/>
              </a:rPr>
              <a:t>Reportes que cruzan todo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290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662"/>
                </a:solidFill>
                <a:latin typeface="Segoe UI"/>
              </a:rPr>
              <a:t>sumar por sucursal, mes y tipo es más simple en SQL.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976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875A"/>
                </a:solidFill>
                <a:latin typeface="Segoe U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70248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A1716"/>
                </a:solidFill>
                <a:latin typeface="Segoe UI"/>
              </a:rPr>
              <a:t>Transacciones entre entidades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66344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662"/>
                </a:solidFill>
                <a:latin typeface="Segoe UI"/>
              </a:rPr>
              <a:t>si un movimiento toca cinco tablas, mejor una base relacional.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1828800"/>
            <a:ext cx="2743200" cy="3063240"/>
          </a:xfrm>
          <a:prstGeom prst="roundRect">
            <a:avLst>
              <a:gd name="adj" fmla="val 5000"/>
            </a:avLst>
          </a:prstGeom>
          <a:solidFill>
            <a:srgbClr val="00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103120"/>
            <a:ext cx="21945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Segoe UI Semibold"/>
              </a:rPr>
              <a:t>Si todo se
relaciona con
todo, MongoDB
te obliga a
duplicar.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943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5A3C"/>
                </a:solidFill>
                <a:latin typeface="Segoe UI"/>
              </a:rPr>
              <a:t>La pregunta correcta: ¿este dato se lee completo y cambia por bloques?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07A"/>
                </a:solidFill>
                <a:latin typeface="Segoe UI"/>
              </a:rPr>
              <a:t>Equipo 3  ·  MongoDB  ·  Unidad 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465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07A"/>
                </a:solidFill>
                <a:latin typeface="Segoe UI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875A"/>
                </a:solidFill>
                <a:latin typeface="Segoe UI"/>
              </a:rPr>
              <a:t>06 · DEMO OPCIONAL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A1716"/>
                </a:solidFill>
                <a:latin typeface="Segoe UI Semibold"/>
              </a:rPr>
              <a:t>Demo: 3 minutos, sin ALTER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875A"/>
                </a:solidFill>
                <a:latin typeface="Consolas"/>
              </a:rPr>
              <a:t>0:00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8288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716"/>
                </a:solidFill>
                <a:latin typeface="Segoe UI"/>
              </a:rPr>
              <a:t>Levantar MongoDB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8288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662"/>
                </a:solidFill>
                <a:latin typeface="Consolas"/>
              </a:rPr>
              <a:t>docker run -d --name mongo -p 27017:27017 mongo:7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304288"/>
            <a:ext cx="10789920" cy="9144"/>
          </a:xfrm>
          <a:prstGeom prst="rect">
            <a:avLst/>
          </a:prstGeom>
          <a:solidFill>
            <a:srgbClr val="E2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24327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875A"/>
                </a:solidFill>
                <a:latin typeface="Consolas"/>
              </a:rPr>
              <a:t>0:40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7860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716"/>
                </a:solidFill>
                <a:latin typeface="Segoe UI"/>
              </a:rPr>
              <a:t>Abrir la consola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57860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662"/>
                </a:solidFill>
                <a:latin typeface="Consolas"/>
              </a:rPr>
              <a:t>mongosh  →  use ingresos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054096"/>
            <a:ext cx="10789920" cy="9144"/>
          </a:xfrm>
          <a:prstGeom prst="rect">
            <a:avLst/>
          </a:prstGeom>
          <a:solidFill>
            <a:srgbClr val="E2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374135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875A"/>
                </a:solidFill>
                <a:latin typeface="Consolas"/>
              </a:rPr>
              <a:t>1:10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328415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716"/>
                </a:solidFill>
                <a:latin typeface="Segoe UI"/>
              </a:rPr>
              <a:t>Insertar dos trámites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328415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662"/>
                </a:solidFill>
                <a:latin typeface="Consolas"/>
              </a:rPr>
              <a:t>db.tramites.insertOne({...})  ×2, con campos distintos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803904"/>
            <a:ext cx="10789920" cy="9144"/>
          </a:xfrm>
          <a:prstGeom prst="rect">
            <a:avLst/>
          </a:prstGeom>
          <a:solidFill>
            <a:srgbClr val="E2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12394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875A"/>
                </a:solidFill>
                <a:latin typeface="Consolas"/>
              </a:rPr>
              <a:t>2:10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07822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716"/>
                </a:solidFill>
                <a:latin typeface="Segoe UI"/>
              </a:rPr>
              <a:t>Consultar el campo anidado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078224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662"/>
                </a:solidFill>
                <a:latin typeface="Consolas"/>
              </a:rPr>
              <a:t>db.tramites.find({ "datos.giro": "restaurante" })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553712"/>
            <a:ext cx="10789920" cy="9144"/>
          </a:xfrm>
          <a:prstGeom prst="rect">
            <a:avLst/>
          </a:prstGeom>
          <a:solidFill>
            <a:srgbClr val="E2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4983480"/>
            <a:ext cx="10789920" cy="914400"/>
          </a:xfrm>
          <a:prstGeom prst="roundRect">
            <a:avLst>
              <a:gd name="adj" fmla="val 6000"/>
            </a:avLst>
          </a:prstGeom>
          <a:solidFill>
            <a:srgbClr val="FBF9F6"/>
          </a:solidFill>
          <a:ln w="12700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0120" y="5138928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662"/>
                </a:solidFill>
                <a:latin typeface="Segoe UI"/>
              </a:rPr>
              <a:t>Plan B si falla la red: video de 3 minutos grabado antes. El PDF lo permite.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07A"/>
                </a:solidFill>
                <a:latin typeface="Segoe UI"/>
              </a:rPr>
              <a:t>Equipo 3  ·  MongoDB  ·  Unidad II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465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07A"/>
                </a:solidFill>
                <a:latin typeface="Segoe U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5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22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FC4B2"/>
                </a:solidFill>
                <a:latin typeface="Segoe UI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5156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 Semibold"/>
              </a:rPr>
              <a:t>MongoDB no elimina el esquema:
lo mueve a la aplicación.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977639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ED64"/>
                </a:solidFill>
                <a:latin typeface="Segoe U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297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El documento sigue al dato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68172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DB8B2"/>
                </a:solidFill>
                <a:latin typeface="Segoe UI"/>
              </a:rPr>
              <a:t>no al revés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3977639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ED64"/>
                </a:solidFill>
                <a:latin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4297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El esquema se diseña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468172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DB8B2"/>
                </a:solidFill>
                <a:latin typeface="Segoe UI"/>
              </a:rPr>
              <a:t>no se deja al azar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3977639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ED64"/>
                </a:solidFill>
                <a:latin typeface="Segoe U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4297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No es para todo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468172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DB8B2"/>
                </a:solidFill>
                <a:latin typeface="Segoe UI"/>
              </a:rPr>
              <a:t>las relaciones siguen en 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486400"/>
            <a:ext cx="10789920" cy="9144"/>
          </a:xfrm>
          <a:prstGeom prst="rect">
            <a:avLst/>
          </a:prstGeom>
          <a:solidFill>
            <a:srgbClr val="394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62356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A8F89"/>
                </a:solidFill>
                <a:latin typeface="Segoe UI"/>
              </a:rPr>
              <a:t>Fuentes: mongodb.com/docs  ·  Docker Hub /mongo  ·  MongoDB Atlas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562356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Gracias  ·  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